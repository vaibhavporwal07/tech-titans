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2A24"/>
          </a:solidFill>
          <a:ln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498079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936992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75904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14815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253728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0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31551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70463" y="1188720"/>
            <a:ext cx="0" cy="448056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914400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1389888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80" y="1865376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2340864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2816352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3291840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80" y="3767328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4242816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" y="4718304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5193792"/>
            <a:ext cx="4389120" cy="0"/>
          </a:xfrm>
          <a:prstGeom prst="line">
            <a:avLst/>
          </a:prstGeom>
          <a:ln w="7620">
            <a:solidFill>
              <a:srgbClr val="2D53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029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CAA5E"/>
                </a:solidFill>
                <a:latin typeface="Cascadia Mono"/>
              </a:rPr>
              <a:t>TECH TITANS  •  SMART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078992"/>
            <a:ext cx="6217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1">
                <a:solidFill>
                  <a:srgbClr val="FFFFFF"/>
                </a:solidFill>
                <a:latin typeface="Baskerville Old Face"/>
              </a:rPr>
              <a:t>Smart Pollution
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60604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Real-time spatial sensing, anomaly detection &amp; prediction for NITK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37560"/>
            <a:ext cx="68580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46703"/>
            <a:ext cx="685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IoT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3337560"/>
            <a:ext cx="160020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3346703"/>
            <a:ext cx="1600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SPATIAL INTELLIGENCE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3337560"/>
            <a:ext cx="1508760" cy="292608"/>
          </a:xfrm>
          <a:prstGeom prst="roundRect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3346703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MACHINE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60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Sense  →  Locate  →  Understand  →  Predict  →  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1325880"/>
            <a:ext cx="3977639" cy="416052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16276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NITK CAMPUS</a:t>
            </a:r>
          </a:p>
        </p:txBody>
      </p:sp>
      <p:sp>
        <p:nvSpPr>
          <p:cNvPr id="33" name="Oval 32"/>
          <p:cNvSpPr/>
          <p:nvPr/>
        </p:nvSpPr>
        <p:spPr>
          <a:xfrm>
            <a:off x="7909560" y="2423160"/>
            <a:ext cx="502920" cy="502920"/>
          </a:xfrm>
          <a:prstGeom prst="ellipse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9560" y="2423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N01</a:t>
            </a:r>
          </a:p>
        </p:txBody>
      </p:sp>
      <p:sp>
        <p:nvSpPr>
          <p:cNvPr id="35" name="Oval 34"/>
          <p:cNvSpPr/>
          <p:nvPr/>
        </p:nvSpPr>
        <p:spPr>
          <a:xfrm>
            <a:off x="9601200" y="2103120"/>
            <a:ext cx="502920" cy="502920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21031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N02</a:t>
            </a:r>
          </a:p>
        </p:txBody>
      </p:sp>
      <p:sp>
        <p:nvSpPr>
          <p:cNvPr id="37" name="Oval 36"/>
          <p:cNvSpPr/>
          <p:nvPr/>
        </p:nvSpPr>
        <p:spPr>
          <a:xfrm>
            <a:off x="10332720" y="3794760"/>
            <a:ext cx="502920" cy="502920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2720" y="3794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70916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Interactive spatial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5029200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scadia Mono"/>
              </a:rPr>
              <a:t>Time-aware monitoring + local trends + ML forecast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01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EEAA709-0BF4-B145-213D-7973B8E6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731520"/>
            <a:ext cx="5486399" cy="5047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01 •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Campus conditions change by place and by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A useful environmental system must see the difference between locations, not only report a single campus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224028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176272"/>
            <a:ext cx="384048" cy="384048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214884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Spatial blind spots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single reading cannot reveal where conditions are elevated inside a campus.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29000" cy="224028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2176272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1762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14884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Reactive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8892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Current or historical values show what happened; they do not anticipate what happens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3429000" cy="224028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85632" y="2176272"/>
            <a:ext cx="384048" cy="384048"/>
          </a:xfrm>
          <a:prstGeom prst="ellipse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21762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14884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Missing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8892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high value needs comparison with local behaviour and surrounding locations to become meaningful.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617720"/>
            <a:ext cx="10058400" cy="960120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479145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The key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736592"/>
            <a:ext cx="7818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WHERE is the condition changing, WHY might it be happening, and WHAT happens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02 • OUR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From low-cost sensing to environmental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The architecture is modular: the sensing layer can grow without changing the intelligence and dashboard layers.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2542032"/>
            <a:ext cx="45720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ESP32 + DHT11 +
KY-038 / LM393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3246120"/>
            <a:ext cx="256031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96312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60904" y="2542032"/>
            <a:ext cx="45720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60904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COLLECT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Timestamp +
Node identity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2" y="3246120"/>
            <a:ext cx="256032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98264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62856" y="2542032"/>
            <a:ext cx="45720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856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Spatial + temporal
comparison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8464" y="3246120"/>
            <a:ext cx="256032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0216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64808" y="2542032"/>
            <a:ext cx="45720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8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LSTM-based
forecasting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0416" y="3246120"/>
            <a:ext cx="256032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02168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66760" y="2542032"/>
            <a:ext cx="45720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VISUALIZE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Interactive NITK
map + trends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02368" y="3246120"/>
            <a:ext cx="256032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04120" y="2331720"/>
            <a:ext cx="1600200" cy="18288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268712" y="2542032"/>
            <a:ext cx="45720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68712" y="2551175"/>
            <a:ext cx="457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29992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8712" y="3337560"/>
            <a:ext cx="12618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Hotspot / alert /
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548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3B32"/>
                </a:solidFill>
                <a:latin typeface="Calibri"/>
              </a:rPr>
              <a:t>Current prototype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736592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3B32"/>
                </a:solidFill>
                <a:latin typeface="Calibri"/>
              </a:rPr>
              <a:t>ESP32 nodes → real sensor data → interactive dashboard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4681728"/>
            <a:ext cx="196596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0" y="4690872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ML LAYER IN DEVELOPMENT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03 •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We are building the system, not just proposing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The current proof of concept uses real ESP32 sensor readings and a live geographic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3977639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CURRENT HARDWARE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97480"/>
            <a:ext cx="402336" cy="402336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81328" y="267919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scadia Mono"/>
              </a:rPr>
              <a:t>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718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Node controller + communication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11880"/>
            <a:ext cx="402336" cy="40233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scadia Mono"/>
              </a:rPr>
              <a:t>DHT11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8862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Temperature + humidity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26280"/>
            <a:ext cx="402336" cy="402336"/>
          </a:xfrm>
          <a:prstGeom prst="ellipse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81328" y="450799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scadia Mono"/>
              </a:rPr>
              <a:t>KY-038 / LM393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8006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Relative acoustic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920240"/>
            <a:ext cx="6903720" cy="3977639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21762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CURRENT MONITORING NODES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697480"/>
            <a:ext cx="6355080" cy="594360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84064" y="2798064"/>
            <a:ext cx="384048" cy="384048"/>
          </a:xfrm>
          <a:prstGeom prst="ellipse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84064" y="279806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77063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scadia Mono"/>
              </a:rPr>
              <a:t>LHC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788920"/>
            <a:ext cx="3063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Noise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538728"/>
            <a:ext cx="6355080" cy="594360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84064" y="3639312"/>
            <a:ext cx="384048" cy="384048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36393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61188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Main 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630168"/>
            <a:ext cx="3063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Temperature + Humidity + Noise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4379976"/>
            <a:ext cx="6355080" cy="594360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84064" y="4480560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84064" y="44805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scadia Mono"/>
              </a:rPr>
              <a:t>N03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453128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Main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471416"/>
            <a:ext cx="3063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Temperature + Humidity + Noise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39496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REAL SENSOR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218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Main Building temperature/humidity stream is now feeding the data pipeline.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04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The campus becomes 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The dashboard turns raw readings into a spatial and temporal view that a user can explore in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766560" cy="4160520"/>
          </a:xfrm>
          <a:prstGeom prst="roundRect">
            <a:avLst/>
          </a:prstGeom>
          <a:solidFill>
            <a:srgbClr val="F3F8F6"/>
          </a:solidFill>
          <a:ln w="12700"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6217920" cy="3611880"/>
          </a:xfrm>
          <a:prstGeom prst="rect">
            <a:avLst/>
          </a:prstGeom>
          <a:solidFill>
            <a:srgbClr val="E3EFE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143000" y="2743200"/>
            <a:ext cx="5760720" cy="182880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" y="3749039"/>
            <a:ext cx="5760720" cy="182881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3000" y="4663440"/>
            <a:ext cx="5760720" cy="182880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2331720"/>
            <a:ext cx="137160" cy="3291840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94760" y="2331720"/>
            <a:ext cx="137160" cy="3291840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2331720"/>
            <a:ext cx="137160" cy="3291840"/>
          </a:xfrm>
          <a:prstGeom prst="line">
            <a:avLst/>
          </a:prstGeom>
          <a:ln w="88900">
            <a:solidFill>
              <a:srgbClr val="BEC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463040" y="2514600"/>
            <a:ext cx="777240" cy="777240"/>
          </a:xfrm>
          <a:prstGeom prst="ellipse">
            <a:avLst/>
          </a:prstGeom>
          <a:solidFill>
            <a:srgbClr val="1C7293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331720" y="3474720"/>
            <a:ext cx="777240" cy="777240"/>
          </a:xfrm>
          <a:prstGeom prst="ellipse">
            <a:avLst/>
          </a:prstGeom>
          <a:solidFill>
            <a:srgbClr val="4CAA5E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89120" y="3840480"/>
            <a:ext cx="777240" cy="777240"/>
          </a:xfrm>
          <a:prstGeom prst="ellipse">
            <a:avLst/>
          </a:prstGeom>
          <a:solidFill>
            <a:srgbClr val="E8722C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15000" y="4434840"/>
            <a:ext cx="777240" cy="777240"/>
          </a:xfrm>
          <a:prstGeom prst="ellipse">
            <a:avLst/>
          </a:prstGeom>
          <a:solidFill>
            <a:srgbClr val="D64545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60" y="5074920"/>
            <a:ext cx="777240" cy="777240"/>
          </a:xfrm>
          <a:prstGeom prst="ellipse">
            <a:avLst/>
          </a:prstGeom>
          <a:solidFill>
            <a:srgbClr val="4CAA5E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20240" y="4343400"/>
            <a:ext cx="347472" cy="347472"/>
          </a:xfrm>
          <a:prstGeom prst="ellipse">
            <a:avLst/>
          </a:prstGeom>
          <a:solidFill>
            <a:srgbClr val="E8722C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20240" y="43434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F3B32"/>
                </a:solidFill>
                <a:latin typeface="Calibr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0" y="3063240"/>
            <a:ext cx="347472" cy="347472"/>
          </a:xfrm>
          <a:prstGeom prst="ellipse">
            <a:avLst/>
          </a:prstGeom>
          <a:solidFill>
            <a:srgbClr val="4CAA5E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306324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F3B32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0" y="4572000"/>
            <a:ext cx="347472" cy="347472"/>
          </a:xfrm>
          <a:prstGeom prst="ellipse">
            <a:avLst/>
          </a:prstGeom>
          <a:solidFill>
            <a:srgbClr val="1C7293"/>
          </a:solidFill>
          <a:ln>
            <a:solidFill>
              <a:srgbClr val="F3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45720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0432" y="5925312"/>
            <a:ext cx="56235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1417320" y="6089904"/>
            <a:ext cx="5074920" cy="0"/>
          </a:xfrm>
          <a:prstGeom prst="line">
            <a:avLst/>
          </a:prstGeom>
          <a:ln w="381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297680" y="5971032"/>
            <a:ext cx="237744" cy="237744"/>
          </a:xfrm>
          <a:prstGeom prst="ellipse">
            <a:avLst/>
          </a:prstGeom>
          <a:solidFill>
            <a:srgbClr val="F3F8F6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16152" y="570585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0F3B32"/>
                </a:solidFill>
                <a:latin typeface="Cascadia Mono"/>
              </a:rPr>
              <a:t>8 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70585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0F3B32"/>
                </a:solidFill>
                <a:latin typeface="Cascadia Mono"/>
              </a:rPr>
              <a:t>12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70585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0F3B32"/>
                </a:solidFill>
                <a:latin typeface="Cascadia Mono"/>
              </a:rPr>
              <a:t>6 PM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1874519"/>
            <a:ext cx="3794760" cy="416052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28431" y="2212848"/>
            <a:ext cx="329184" cy="329184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28431" y="2238940"/>
            <a:ext cx="32918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2194560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Interactive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46888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Click a node and move directly to its location.</a:t>
            </a:r>
          </a:p>
        </p:txBody>
      </p:sp>
      <p:sp>
        <p:nvSpPr>
          <p:cNvPr id="37" name="Oval 36"/>
          <p:cNvSpPr/>
          <p:nvPr/>
        </p:nvSpPr>
        <p:spPr>
          <a:xfrm>
            <a:off x="8028431" y="3063240"/>
            <a:ext cx="329184" cy="329184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28431" y="3089332"/>
            <a:ext cx="32918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Calibri"/>
              </a:rPr>
              <a:t>2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22208" y="3044952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Time navigation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3192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Replay the day with a single timeline.</a:t>
            </a:r>
          </a:p>
        </p:txBody>
      </p:sp>
      <p:sp>
        <p:nvSpPr>
          <p:cNvPr id="41" name="Oval 40"/>
          <p:cNvSpPr/>
          <p:nvPr/>
        </p:nvSpPr>
        <p:spPr>
          <a:xfrm>
            <a:off x="8028431" y="3913632"/>
            <a:ext cx="329184" cy="329184"/>
          </a:xfrm>
          <a:prstGeom prst="ellipse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28431" y="3939724"/>
            <a:ext cx="32918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Calibri"/>
              </a:rPr>
              <a:t>3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22208" y="3895344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Parameter trends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4169664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Noise, temperature or humidity — selected by the user.</a:t>
            </a:r>
          </a:p>
        </p:txBody>
      </p:sp>
      <p:sp>
        <p:nvSpPr>
          <p:cNvPr id="45" name="Oval 44"/>
          <p:cNvSpPr/>
          <p:nvPr/>
        </p:nvSpPr>
        <p:spPr>
          <a:xfrm>
            <a:off x="8028431" y="4764024"/>
            <a:ext cx="329184" cy="329184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28431" y="4790116"/>
            <a:ext cx="32918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Calibri"/>
              </a:rPr>
              <a:t>4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22208" y="4745736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Future trends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5020056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The same panel will show the ML forecast.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05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A004106-6492-B295-9DAE-1B325463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3" y="1810512"/>
            <a:ext cx="721436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05 •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Three ideas make the network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The differentiator is not the sensor itself — it is how the system interprets location, time and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29000" cy="38862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221992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Location-aware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71800"/>
            <a:ext cx="27432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is normal here?
Compare each reading with the behaviour expected at that location and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965960"/>
            <a:ext cx="3429000" cy="38862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36592" y="2240280"/>
            <a:ext cx="457200" cy="457200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2221992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Explainable hotspot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971800"/>
            <a:ext cx="27432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Why was it flagged?
Combine local deviation, neighbouring nodes and sustained trends before raising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965960"/>
            <a:ext cx="3429000" cy="38862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F2A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58784" y="2240280"/>
            <a:ext cx="457200" cy="457200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8784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21992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Predictive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971800"/>
            <a:ext cx="27432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happens next?
Use the temporal sequence to forecast near-future temperature and support early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989320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3B32"/>
                </a:solidFill>
                <a:latin typeface="Calibri"/>
              </a:rPr>
              <a:t>The result:  current state  →  unusual behaviour  →  future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06 • ML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From real sensor history to future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The forecasting layer is being developed separately and will plug into the dashboard through a clean prediction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572000" cy="38862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LSTM FORECASTING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33472"/>
            <a:ext cx="3611880" cy="420624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6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Real sensor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651760"/>
            <a:ext cx="19751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scadia Mono"/>
              </a:rPr>
              <a:t>temperature + humidity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054096"/>
            <a:ext cx="0" cy="128016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191256"/>
            <a:ext cx="3611880" cy="420624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320954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209544"/>
            <a:ext cx="19751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scadia Mono"/>
              </a:rPr>
              <a:t>time ordering + resampling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3611879"/>
            <a:ext cx="0" cy="128017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749039"/>
            <a:ext cx="3611880" cy="420624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3767327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3767327"/>
            <a:ext cx="19751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scadia Mono"/>
              </a:rPr>
              <a:t>previous time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4169663"/>
            <a:ext cx="0" cy="128016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306824"/>
            <a:ext cx="3611880" cy="420624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4325112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LSTM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3432" y="4325112"/>
            <a:ext cx="19751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scadia Mono"/>
              </a:rPr>
              <a:t>learn temporal pattern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4727448"/>
            <a:ext cx="0" cy="128016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4864608"/>
            <a:ext cx="3611880" cy="420624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0F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0704" y="488289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13432" y="4882896"/>
            <a:ext cx="19751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scadia Mono"/>
              </a:rPr>
              <a:t>next 15 / 30 / 60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920240"/>
            <a:ext cx="5943600" cy="388620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0A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70448" y="21945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ACTUAL → PREDICTED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5212080"/>
            <a:ext cx="4937760" cy="0"/>
          </a:xfrm>
          <a:prstGeom prst="line">
            <a:avLst/>
          </a:prstGeom>
          <a:ln w="12700">
            <a:solidFill>
              <a:srgbClr val="A4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2697480"/>
            <a:ext cx="0" cy="2514600"/>
          </a:xfrm>
          <a:prstGeom prst="line">
            <a:avLst/>
          </a:prstGeom>
          <a:ln w="12700">
            <a:solidFill>
              <a:srgbClr val="A4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72200" y="4206240"/>
            <a:ext cx="548640" cy="228600"/>
          </a:xfrm>
          <a:prstGeom prst="line">
            <a:avLst/>
          </a:prstGeom>
          <a:ln w="38100">
            <a:solidFill>
              <a:srgbClr val="409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4206240"/>
            <a:ext cx="548640" cy="73152"/>
          </a:xfrm>
          <a:prstGeom prst="line">
            <a:avLst/>
          </a:prstGeom>
          <a:ln w="38100">
            <a:solidFill>
              <a:srgbClr val="409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69480" y="3977639"/>
            <a:ext cx="548640" cy="301753"/>
          </a:xfrm>
          <a:prstGeom prst="line">
            <a:avLst/>
          </a:prstGeom>
          <a:ln w="38100">
            <a:solidFill>
              <a:srgbClr val="409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818120" y="3840480"/>
            <a:ext cx="548640" cy="137159"/>
          </a:xfrm>
          <a:prstGeom prst="line">
            <a:avLst/>
          </a:prstGeom>
          <a:ln w="38100">
            <a:solidFill>
              <a:srgbClr val="409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66760" y="3840480"/>
            <a:ext cx="548640" cy="137159"/>
          </a:xfrm>
          <a:prstGeom prst="line">
            <a:avLst/>
          </a:prstGeom>
          <a:ln w="38100">
            <a:solidFill>
              <a:srgbClr val="409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15400" y="3767328"/>
            <a:ext cx="548640" cy="210311"/>
          </a:xfrm>
          <a:prstGeom prst="line">
            <a:avLst/>
          </a:prstGeom>
          <a:ln w="38100">
            <a:solidFill>
              <a:srgbClr val="B5D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464040" y="3611880"/>
            <a:ext cx="548640" cy="155448"/>
          </a:xfrm>
          <a:prstGeom prst="line">
            <a:avLst/>
          </a:prstGeom>
          <a:ln w="38100">
            <a:solidFill>
              <a:srgbClr val="B5D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012680" y="3529584"/>
            <a:ext cx="548640" cy="82296"/>
          </a:xfrm>
          <a:prstGeom prst="line">
            <a:avLst/>
          </a:prstGeom>
          <a:ln w="38100">
            <a:solidFill>
              <a:srgbClr val="B5D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131052" y="4393692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79692" y="4165091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228332" y="4238244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776972" y="3936491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325612" y="3799332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874252" y="3936491"/>
            <a:ext cx="82296" cy="82296"/>
          </a:xfrm>
          <a:prstGeom prst="ellipse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74252" y="3936491"/>
            <a:ext cx="82296" cy="82296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422892" y="3726180"/>
            <a:ext cx="82296" cy="82296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971532" y="3570732"/>
            <a:ext cx="82296" cy="82296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520172" y="3488436"/>
            <a:ext cx="82296" cy="82296"/>
          </a:xfrm>
          <a:prstGeom prst="ellipse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172200" y="5486400"/>
            <a:ext cx="59436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5495544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REAL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5486400"/>
            <a:ext cx="594360" cy="292608"/>
          </a:xfrm>
          <a:prstGeom prst="roundRect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03720" y="5495544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LSTM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49554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Evaluation metric: MAE (°C)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80644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F3B32"/>
                </a:solidFill>
                <a:latin typeface="Cascadia Mono"/>
              </a:rPr>
              <a:t>Today: pipeline + interface
Next: retrain with longer continuous recordings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7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CAA5E"/>
                </a:solidFill>
                <a:latin typeface="Cascadia Mono"/>
              </a:rPr>
              <a:t>07 • PROGRESSION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3B32"/>
                </a:solidFill>
                <a:latin typeface="Baskerville Old Face"/>
              </a:rPr>
              <a:t>From prototype → deployable campus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61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F3B32"/>
                </a:solidFill>
                <a:latin typeface="Calibri"/>
              </a:rPr>
              <a:t>Every future capability extends the same core architecture rather than replacing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051560" cy="36576"/>
          </a:xfrm>
          <a:prstGeom prst="rect">
            <a:avLst/>
          </a:prstGeom>
          <a:solidFill>
            <a:srgbClr val="4CAA5E"/>
          </a:solidFill>
          <a:ln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" y="2560320"/>
            <a:ext cx="105156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Hardware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ESP32 + DHT11 + KY-038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0008" y="3401568"/>
            <a:ext cx="246888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60320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15768" y="2560320"/>
            <a:ext cx="105156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15768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DONE /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Initial Main Building recordings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51960" y="3401568"/>
            <a:ext cx="246888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62272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F2A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17720" y="2560320"/>
            <a:ext cx="1051560" cy="292608"/>
          </a:xfrm>
          <a:prstGeom prst="roundRect">
            <a:avLst/>
          </a:prstGeom>
          <a:solidFill>
            <a:srgbClr val="F2A54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Interactive NITK map + time + trends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53912" y="3401568"/>
            <a:ext cx="246888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E8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19672" y="2560320"/>
            <a:ext cx="1051560" cy="292608"/>
          </a:xfrm>
          <a:prstGeom prst="roundRect">
            <a:avLst/>
          </a:prstGeom>
          <a:solidFill>
            <a:srgbClr val="E8722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IN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scadia Mono"/>
              </a:rPr>
              <a:t>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LSTM temperature forecasting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55864" y="3401568"/>
            <a:ext cx="246888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66175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421624" y="2560320"/>
            <a:ext cx="1051560" cy="292608"/>
          </a:xfrm>
          <a:prstGeom prst="roundRect">
            <a:avLst/>
          </a:prstGeom>
          <a:solidFill>
            <a:srgbClr val="4CAA5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1624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Hotspots + local baselines + explainability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57815" y="3401568"/>
            <a:ext cx="246889" cy="0"/>
          </a:xfrm>
          <a:prstGeom prst="line">
            <a:avLst/>
          </a:prstGeom>
          <a:ln w="25400">
            <a:solidFill>
              <a:srgbClr val="66A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68128" y="2331720"/>
            <a:ext cx="1691640" cy="2148840"/>
          </a:xfrm>
          <a:prstGeom prst="roundRect">
            <a:avLst/>
          </a:prstGeom>
          <a:solidFill>
            <a:srgbClr val="0A2A24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323576" y="2560320"/>
            <a:ext cx="1051560" cy="292608"/>
          </a:xfrm>
          <a:prstGeom prst="roundRect">
            <a:avLst/>
          </a:prstGeom>
          <a:solidFill>
            <a:srgbClr val="1C729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23576" y="256946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scadia Mono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3576" y="3127248"/>
            <a:ext cx="1325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Campus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23576" y="3730752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scadia Mono"/>
              </a:rPr>
              <a:t>More nodes + calibrated air-quality sensing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4983480"/>
            <a:ext cx="10469880" cy="960120"/>
          </a:xfrm>
          <a:prstGeom prst="roundRect">
            <a:avLst/>
          </a:prstGeom>
          <a:solidFill>
            <a:srgbClr val="0F3B32"/>
          </a:solidFill>
          <a:ln w="12700">
            <a:solidFill>
              <a:srgbClr val="4CA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70432" y="5202936"/>
            <a:ext cx="1280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scadia Mono"/>
              </a:rPr>
              <a:t>FUTURE VISION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5129784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 low-cost environmental intelligence layer that learns where conditions change, predicts what comes next, and helps the campus respond early.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5577840"/>
            <a:ext cx="5852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scadia Mono"/>
              </a:rPr>
              <a:t>Detect  •  Locate  •  Understand  •  Predict  •  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92240"/>
            <a:ext cx="7132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26760"/>
                </a:solidFill>
                <a:latin typeface="Calibri"/>
              </a:rPr>
              <a:t>SMART CAMPUS ENVIRONMENTAL INTELLIGENCE  •  NITK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526760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6071616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0F3B32"/>
                </a:solidFill>
                <a:latin typeface="Cascadia Mono"/>
              </a:rPr>
              <a:t>Current prototype scope: temperature, humidity and relative acoustic sensing; future air-quality sensing is modular.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788</Words>
  <Application>Microsoft Office PowerPoint</Application>
  <PresentationFormat>Widescreen</PresentationFormat>
  <Paragraphs>167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Baskerville Old Face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Vaibhav Porwal</dc:creator>
  <cp:keywords/>
  <dc:description>generated using python-pptx</dc:description>
  <cp:lastModifiedBy>Vaibhav Porwal</cp:lastModifiedBy>
  <cp:revision>4</cp:revision>
  <dcterms:created xsi:type="dcterms:W3CDTF">2013-01-27T09:14:16Z</dcterms:created>
  <dcterms:modified xsi:type="dcterms:W3CDTF">2026-08-30T15:16:59Z</dcterms:modified>
  <cp:category/>
</cp:coreProperties>
</file>